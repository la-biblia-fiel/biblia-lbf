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3"/>
  </p:normalViewPr>
  <p:slideViewPr>
    <p:cSldViewPr snapToGrid="0">
      <p:cViewPr varScale="1">
        <p:scale>
          <a:sx n="117" d="100"/>
          <a:sy n="117" d="100"/>
        </p:scale>
        <p:origin x="5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Imagine opening the Bible tomorrow morning and discovering that something you have believed for twenty years is wrong.</a:t>
            </a:r>
          </a:p>
          <a:p>
            <a:endParaRPr dirty="0"/>
          </a:p>
          <a:p>
            <a:r>
              <a:rPr dirty="0"/>
              <a:t>What would you do?</a:t>
            </a:r>
          </a:p>
          <a:p>
            <a:endParaRPr dirty="0"/>
          </a:p>
          <a:p>
            <a:r>
              <a:rPr dirty="0"/>
              <a:t>Would you change your mind?</a:t>
            </a:r>
          </a:p>
          <a:p>
            <a:endParaRPr dirty="0"/>
          </a:p>
          <a:p>
            <a:r>
              <a:rPr dirty="0"/>
              <a:t>Or would you start looking for someone who could explain why you don’t have to?</a:t>
            </a:r>
          </a:p>
          <a:p>
            <a:endParaRPr dirty="0"/>
          </a:p>
          <a:p>
            <a:r>
              <a:rPr dirty="0"/>
              <a:t>*[Pause.]*</a:t>
            </a:r>
          </a:p>
          <a:p>
            <a:endParaRPr dirty="0"/>
          </a:p>
          <a:p>
            <a:r>
              <a:rPr dirty="0"/>
              <a:t>That question is easy to answer when we’re thinking about somebody else. We all know somebody who needs to reconsider a few things. Some of us could provide a list.</a:t>
            </a:r>
          </a:p>
          <a:p>
            <a:endParaRPr dirty="0"/>
          </a:p>
          <a:p>
            <a:r>
              <a:rPr dirty="0"/>
              <a:t>But leave their names off it for a moment.</a:t>
            </a:r>
          </a:p>
          <a:p>
            <a:endParaRPr dirty="0"/>
          </a:p>
          <a:p>
            <a:r>
              <a:rPr dirty="0"/>
              <a:t>What about me? What about you?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 live in a world where answers arrive faster than we can examine them. Type a question into a search engine, and the screen fills up. Ask AI, and an answer appears, polished, organized, and remarkably sure of itself.</a:t>
            </a:r>
          </a:p>
          <a:p>
            <a:endParaRPr dirty="0"/>
          </a:p>
          <a:p>
            <a:r>
              <a:rPr dirty="0"/>
              <a:t>But a confident answer still needs a foundation. Where did it come from? What supports it? Why should we believe it?</a:t>
            </a:r>
          </a:p>
          <a:p>
            <a:endParaRPr dirty="0"/>
          </a:p>
          <a:p>
            <a:r>
              <a:rPr dirty="0"/>
              <a:t>All day, voices ask for our trust. A teacher explains. A scientist reports a discovery. A news presenter tells us what happened. A podcast host tells us what it means. Politicians make promises. Religious leaders speak about God. Friends share posts. Family members say, “Trust me. I’ve been there.”</a:t>
            </a:r>
          </a:p>
          <a:p>
            <a:endParaRPr dirty="0"/>
          </a:p>
          <a:p>
            <a:r>
              <a:rPr dirty="0"/>
              <a:t>And somewhere in that crowd, our own feelings speak up: “Well, I just feel that it’s true.”</a:t>
            </a:r>
          </a:p>
          <a:p>
            <a:endParaRPr dirty="0"/>
          </a:p>
          <a:p>
            <a:r>
              <a:rPr dirty="0"/>
              <a:t>Some of these voices deserve careful attention. They do not all have the same expertise, and their claims do not all have the same support. We need to examine them. Just because someone on </a:t>
            </a:r>
            <a:r>
              <a:rPr dirty="0" err="1"/>
              <a:t>Youtube</a:t>
            </a:r>
            <a:r>
              <a:rPr dirty="0"/>
              <a:t> has 55K followers does not make them a trustworthy source. </a:t>
            </a:r>
          </a:p>
          <a:p>
            <a:endParaRPr dirty="0"/>
          </a:p>
          <a:p>
            <a:r>
              <a:rPr dirty="0"/>
              <a:t>Yet sometimes we accept an idea simply because it sounds familiar. We have heard it often. We like the person who said it. Or it fits what we already wanted to believe.</a:t>
            </a:r>
          </a:p>
          <a:p>
            <a:endParaRPr dirty="0"/>
          </a:p>
          <a:p>
            <a:r>
              <a:rPr dirty="0"/>
              <a:t>Then somebody questions it, and we discover how attached we have become.</a:t>
            </a:r>
          </a:p>
          <a:p>
            <a:endParaRPr dirty="0"/>
          </a:p>
          <a:p>
            <a:r>
              <a:rPr dirty="0"/>
              <a:t>“Here’s what I think” becomes “How dare you disagree?”</a:t>
            </a:r>
          </a:p>
          <a:p>
            <a:endParaRPr dirty="0"/>
          </a:p>
          <a:p>
            <a:r>
              <a:rPr dirty="0"/>
              <a:t>We begin defending ourselves before we have examined the claim.</a:t>
            </a:r>
          </a:p>
          <a:p>
            <a:endParaRPr dirty="0"/>
          </a:p>
          <a:p>
            <a:r>
              <a:rPr dirty="0"/>
              <a:t>But being offended cannot make us right. Neither can being sincere. A belief can be deeply comforting and still be mistaken.</a:t>
            </a:r>
          </a:p>
          <a:p>
            <a:endParaRPr dirty="0"/>
          </a:p>
          <a:p>
            <a:r>
              <a:rPr dirty="0"/>
              <a:t>That matters when we’re discussing ordinary things. It matters profoundly when we’re asking about God, our standing before Him, and what lies beyond death.</a:t>
            </a:r>
          </a:p>
          <a:p>
            <a:endParaRPr dirty="0"/>
          </a:p>
          <a:p>
            <a:r>
              <a:rPr dirty="0"/>
              <a:t>When the voices disagree, which voice has the authority to correct the others?</a:t>
            </a:r>
          </a:p>
          <a:p>
            <a:endParaRPr dirty="0"/>
          </a:p>
          <a:p>
            <a:r>
              <a:rPr dirty="0"/>
              <a:t>And why should Scripture have that authority?</a:t>
            </a:r>
          </a:p>
          <a:p>
            <a:endParaRPr dirty="0"/>
          </a:p>
          <a:p>
            <a:r>
              <a:rPr dirty="0"/>
              <a:t>Today, I want us to listen to what Scripture claims and follow the connections its writers make. Watch how Jesus speaks about Moses, the Prophets, and the Psalms. Watch how Peter explains David and Isaiah. Watch how Paul reaches back to Abraham to explain the gospel.</a:t>
            </a:r>
          </a:p>
          <a:p>
            <a:endParaRPr dirty="0"/>
          </a:p>
          <a:p>
            <a:r>
              <a:rPr dirty="0"/>
              <a:t>You will hear different voices, speaking in different settings, directing our attention to the same Person.</a:t>
            </a:r>
          </a:p>
          <a:p>
            <a:endParaRPr dirty="0"/>
          </a:p>
          <a:p>
            <a:r>
              <a:rPr dirty="0"/>
              <a:t>Many books. One message. Jesus Christ at its center.</a:t>
            </a:r>
          </a:p>
          <a:p>
            <a:endParaRPr dirty="0"/>
          </a:p>
          <a:p>
            <a:r>
              <a:rPr dirty="0"/>
              <a:t>And as we listen, keep that opening question with you: **If God’s Word challenges what I believe, am I willing to be corrected?**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Hebrews 1:1–2 tells us that God spoke through the prophets and has now spoken through His Son. The God Scripture reveals communicates. He makes Himself known. He reveals our need and what He has provided through Jesus Christ.</a:t>
            </a:r>
          </a:p>
          <a:p>
            <a:endParaRPr dirty="0"/>
          </a:p>
          <a:p>
            <a:r>
              <a:rPr dirty="0"/>
              <a:t>If Scripture is His written revelation, its authority rests on the One who speaks through it. That claim deserves to be examined seriously. Calling a book authoritative does not settle every question about it. But we cannot assess its claim fairly without listening to what it actually says.</a:t>
            </a:r>
          </a:p>
          <a:p>
            <a:endParaRPr dirty="0"/>
          </a:p>
          <a:p>
            <a:r>
              <a:rPr dirty="0"/>
              <a:t>So begin with Jesus.</a:t>
            </a:r>
          </a:p>
          <a:p>
            <a:endParaRPr dirty="0"/>
          </a:p>
          <a:p>
            <a:r>
              <a:rPr dirty="0"/>
              <a:t>In John 5:39, He tells His hearers:</a:t>
            </a:r>
          </a:p>
          <a:p>
            <a:endParaRPr dirty="0"/>
          </a:p>
          <a:p>
            <a:r>
              <a:rPr dirty="0"/>
              <a:t>&gt; “You search the Scriptures, because you think that in them you have eternal life; and these are they which testify about me.”</a:t>
            </a:r>
          </a:p>
          <a:p>
            <a:endParaRPr dirty="0"/>
          </a:p>
          <a:p>
            <a:r>
              <a:rPr dirty="0"/>
              <a:t>Then He adds:</a:t>
            </a:r>
          </a:p>
          <a:p>
            <a:endParaRPr dirty="0"/>
          </a:p>
          <a:p>
            <a:r>
              <a:rPr dirty="0"/>
              <a:t>&gt; “Yet you will not come to me, that you may have life.”</a:t>
            </a:r>
          </a:p>
          <a:p>
            <a:endParaRPr dirty="0"/>
          </a:p>
          <a:p>
            <a:r>
              <a:rPr dirty="0"/>
              <a:t>Think about that. These people searched the Scriptures. Yet Jesus said they were refusing the very Person those Scriptures revealed.</a:t>
            </a:r>
          </a:p>
          <a:p>
            <a:endParaRPr dirty="0"/>
          </a:p>
          <a:p>
            <a:r>
              <a:rPr dirty="0"/>
              <a:t>It is possible to become familiar with the words and resist their testimony.</a:t>
            </a:r>
          </a:p>
          <a:p>
            <a:endParaRPr dirty="0"/>
          </a:p>
          <a:p>
            <a:r>
              <a:rPr dirty="0"/>
              <a:t>We can know where a passage is found, discuss its meaning, perhaps even win an argument about it, while refusing to come to Christ for life.</a:t>
            </a:r>
          </a:p>
          <a:p>
            <a:endParaRPr dirty="0"/>
          </a:p>
          <a:p>
            <a:r>
              <a:rPr dirty="0"/>
              <a:t>Imagine studying a road sign so carefully that you never travel to the place it points to. You measure it, admire it, memorize it—and remain where you were.</a:t>
            </a:r>
          </a:p>
          <a:p>
            <a:endParaRPr dirty="0"/>
          </a:p>
          <a:p>
            <a:r>
              <a:rPr dirty="0"/>
              <a:t>Jesus says the Scriptures testify about Him. Their testimony calls for a response to Him.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Now turn from John’s Gospel to the end of the Bible.</a:t>
            </a:r>
          </a:p>
          <a:p>
            <a:endParaRPr dirty="0"/>
          </a:p>
          <a:p>
            <a:r>
              <a:rPr dirty="0"/>
              <a:t>In Revelation 22:16, Jesus says:</a:t>
            </a:r>
          </a:p>
          <a:p>
            <a:endParaRPr dirty="0"/>
          </a:p>
          <a:p>
            <a:r>
              <a:rPr dirty="0"/>
              <a:t>&gt; “I am the root and the offspring of David, the Bright and Morning Star.”</a:t>
            </a:r>
          </a:p>
          <a:p>
            <a:endParaRPr dirty="0"/>
          </a:p>
          <a:p>
            <a:r>
              <a:rPr dirty="0"/>
              <a:t>Even here, on the Bible’s closing pages, He connects His identity to David and the promises recorded earlier.</a:t>
            </a:r>
          </a:p>
          <a:p>
            <a:endParaRPr dirty="0"/>
          </a:p>
          <a:p>
            <a:r>
              <a:rPr dirty="0"/>
              <a:t>Then comes the invitation:</a:t>
            </a:r>
          </a:p>
          <a:p>
            <a:endParaRPr dirty="0"/>
          </a:p>
          <a:p>
            <a:r>
              <a:rPr dirty="0"/>
              <a:t>&gt; “He who is thirsty, let him come. He who desires, let him take the water of life freely.”</a:t>
            </a:r>
          </a:p>
          <a:p>
            <a:endParaRPr dirty="0"/>
          </a:p>
          <a:p>
            <a:r>
              <a:rPr dirty="0"/>
              <a:t>Freely.</a:t>
            </a:r>
          </a:p>
          <a:p>
            <a:endParaRPr dirty="0"/>
          </a:p>
          <a:p>
            <a:r>
              <a:rPr dirty="0"/>
              <a:t>Let that word have its weight. The thirsty person is invited to receive.</a:t>
            </a:r>
          </a:p>
          <a:p>
            <a:endParaRPr dirty="0"/>
          </a:p>
          <a:p>
            <a:r>
              <a:rPr dirty="0"/>
              <a:t>John records Jesus calling people to come to Him for life. Revelation closes with the invitation to take the water of life freely. The question presses upon us: Have we come to the One these words reveal?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After His resurrection, Jesus gives His disciples an extraordinary explanation of their Scriptures.</a:t>
            </a:r>
          </a:p>
          <a:p>
            <a:endParaRPr dirty="0"/>
          </a:p>
          <a:p>
            <a:r>
              <a:rPr dirty="0"/>
              <a:t>Luke 24:27 says:</a:t>
            </a:r>
          </a:p>
          <a:p>
            <a:endParaRPr dirty="0"/>
          </a:p>
          <a:p>
            <a:r>
              <a:rPr dirty="0"/>
              <a:t>&gt; “Beginning from Moses and from all the prophets, he explained to them in all the Scriptures the things concerning himself.”</a:t>
            </a:r>
          </a:p>
          <a:p>
            <a:endParaRPr dirty="0"/>
          </a:p>
          <a:p>
            <a:r>
              <a:rPr dirty="0"/>
              <a:t>Later, in verse 44, He says:</a:t>
            </a:r>
          </a:p>
          <a:p>
            <a:endParaRPr dirty="0"/>
          </a:p>
          <a:p>
            <a:r>
              <a:rPr dirty="0"/>
              <a:t>&gt; “All things which are written in the law of Moses, the prophets, and the psalms concerning me must be fulfilled.”</a:t>
            </a:r>
          </a:p>
          <a:p>
            <a:endParaRPr dirty="0"/>
          </a:p>
          <a:p>
            <a:r>
              <a:rPr dirty="0"/>
              <a:t>Notice where Jesus takes them. Back to the Scriptures they already possessed.</a:t>
            </a:r>
          </a:p>
          <a:p>
            <a:endParaRPr dirty="0"/>
          </a:p>
          <a:p>
            <a:r>
              <a:rPr dirty="0"/>
              <a:t>What did those Scriptures anticipate?</a:t>
            </a:r>
          </a:p>
          <a:p>
            <a:endParaRPr dirty="0"/>
          </a:p>
          <a:p>
            <a:r>
              <a:rPr dirty="0"/>
              <a:t>He explains in verses 46–48: the Christ would suffer, rise from the dead on the third day, and repentance and forgiveness of sins would be proclaimed in His name to all nations. The disciples were witnesses of these things.</a:t>
            </a:r>
          </a:p>
          <a:p>
            <a:endParaRPr dirty="0"/>
          </a:p>
          <a:p>
            <a:r>
              <a:rPr dirty="0"/>
              <a:t>Suffering. Resurrection. Forgiveness proclaimed to the nations.</a:t>
            </a:r>
          </a:p>
          <a:p>
            <a:endParaRPr dirty="0"/>
          </a:p>
          <a:p>
            <a:r>
              <a:rPr dirty="0"/>
              <a:t>Jesus gives us the direction to follow. So let’s return to Genesis and ask why humanity needs the forgiveness and life He brings.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the beginning, God created the heavens and the earth.”</a:t>
            </a:r>
          </a:p>
          <a:p>
            <a:endParaRPr dirty="0"/>
          </a:p>
          <a:p>
            <a:r>
              <a:rPr dirty="0"/>
              <a:t>That is where Genesis begins. God creates. Humanity bears His image, male and female. God looks upon everything He has made and declares it very good. (Genesis 1:1, 27, 31.)</a:t>
            </a:r>
          </a:p>
          <a:p>
            <a:endParaRPr dirty="0"/>
          </a:p>
          <a:p>
            <a:r>
              <a:rPr dirty="0"/>
              <a:t>Before we hear about human rebellion, we hear about human dignity. We belong to our Creator. Our life comes from Him.</a:t>
            </a:r>
          </a:p>
          <a:p>
            <a:endParaRPr dirty="0"/>
          </a:p>
          <a:p>
            <a:r>
              <a:rPr dirty="0"/>
              <a:t>Genesis 2:7 describes God forming man from the dust and breathing into him the breath of life. Then God places the man in the garden and speaks to him.</a:t>
            </a:r>
          </a:p>
          <a:p>
            <a:endParaRPr dirty="0"/>
          </a:p>
          <a:p>
            <a:r>
              <a:rPr dirty="0"/>
              <a:t>Listen to how His command begins:</a:t>
            </a:r>
          </a:p>
          <a:p>
            <a:endParaRPr dirty="0"/>
          </a:p>
          <a:p>
            <a:r>
              <a:rPr dirty="0"/>
              <a:t>&gt; “You may freely eat of every tree of the garden.”</a:t>
            </a:r>
          </a:p>
          <a:p>
            <a:endParaRPr dirty="0"/>
          </a:p>
          <a:p>
            <a:r>
              <a:rPr dirty="0"/>
              <a:t>Generosity comes first. Then God identifies the forbidden tree and gives the warning:</a:t>
            </a:r>
          </a:p>
          <a:p>
            <a:endParaRPr dirty="0"/>
          </a:p>
          <a:p>
            <a:r>
              <a:rPr dirty="0"/>
              <a:t>&gt; “In the day that you eat of it, you will surely die.”</a:t>
            </a:r>
          </a:p>
          <a:p>
            <a:endParaRPr dirty="0"/>
          </a:p>
          <a:p>
            <a:r>
              <a:rPr dirty="0"/>
              <a:t>In Genesis 3, another voice speaks:</a:t>
            </a:r>
          </a:p>
          <a:p>
            <a:endParaRPr dirty="0"/>
          </a:p>
          <a:p>
            <a:r>
              <a:rPr dirty="0"/>
              <a:t>&gt; “You won’t really die.”</a:t>
            </a:r>
          </a:p>
          <a:p>
            <a:endParaRPr dirty="0"/>
          </a:p>
          <a:p>
            <a:r>
              <a:rPr dirty="0"/>
              <a:t>There it is. A direct contradiction.</a:t>
            </a:r>
          </a:p>
          <a:p>
            <a:endParaRPr dirty="0"/>
          </a:p>
          <a:p>
            <a:r>
              <a:rPr dirty="0"/>
              <a:t>God says one thing. The serpent says another. The serpent also questions God’s motives, suggesting that God is withholding something desirable: their eyes will be opened, and they will be like God, knowing good and evil. (Genesis 3:4–5.)</a:t>
            </a:r>
          </a:p>
          <a:p>
            <a:endParaRPr dirty="0"/>
          </a:p>
          <a:p>
            <a:r>
              <a:rPr dirty="0"/>
              <a:t>The question of authority is already before us, here in the garden. Whose word will they trust?</a:t>
            </a:r>
          </a:p>
          <a:p>
            <a:endParaRPr dirty="0"/>
          </a:p>
          <a:p>
            <a:r>
              <a:rPr dirty="0"/>
              <a:t>God had said, “In the day that you eat of it, you will surely die.”</a:t>
            </a:r>
          </a:p>
          <a:p>
            <a:endParaRPr dirty="0"/>
          </a:p>
          <a:p>
            <a:r>
              <a:rPr dirty="0"/>
              <a:t>The serpent said, “You won’t really die.”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Adam and Eve ate—and they were still breathing. If God’s warning referred only to immediate physical death, that would seem to support the serpent’s claim.</a:t>
            </a:r>
          </a:p>
          <a:p>
            <a:endParaRPr dirty="0"/>
          </a:p>
          <a:p>
            <a:r>
              <a:rPr dirty="0"/>
              <a:t>But look at what happened.</a:t>
            </a:r>
          </a:p>
          <a:p>
            <a:endParaRPr dirty="0"/>
          </a:p>
          <a:p>
            <a:r>
              <a:rPr dirty="0"/>
              <a:t>They hid. They were afraid. When God confronted them, they shifted the blame. The people He had created for fellowship with Himself were now trying to escape His presence.</a:t>
            </a:r>
          </a:p>
          <a:p>
            <a:endParaRPr dirty="0"/>
          </a:p>
          <a:p>
            <a:r>
              <a:rPr dirty="0"/>
              <a:t>They were physically alive, but spiritually dead. Their guilt, fear, and condemnation revealed the rupture sin had brought into their relationship with God. Spiritual death had taken place that very day.</a:t>
            </a:r>
          </a:p>
          <a:p>
            <a:endParaRPr dirty="0"/>
          </a:p>
          <a:p>
            <a:r>
              <a:rPr dirty="0"/>
              <a:t>*[Pause.]*</a:t>
            </a:r>
          </a:p>
          <a:p>
            <a:endParaRPr dirty="0"/>
          </a:p>
          <a:p>
            <a:r>
              <a:rPr dirty="0"/>
              <a:t>That is a sobering thought: a person can be breathing, speaking, and going about life while spiritually dead before God.</a:t>
            </a:r>
          </a:p>
          <a:p>
            <a:endParaRPr dirty="0"/>
          </a:p>
          <a:p>
            <a:r>
              <a:rPr dirty="0"/>
              <a:t>Physical death would follow. God told Adam, “For you are dust, and you shall return to dust.” Their eventual return to the ground would be another consequence of their rebellion.</a:t>
            </a:r>
          </a:p>
          <a:p>
            <a:endParaRPr dirty="0"/>
          </a:p>
          <a:p>
            <a:r>
              <a:rPr dirty="0"/>
              <a:t>The serpent had lied. Sin had brought death, even though Adam and Eve had not immediately stopped breathing.</a:t>
            </a:r>
          </a:p>
          <a:p>
            <a:endParaRPr dirty="0"/>
          </a:p>
          <a:p>
            <a:r>
              <a:rPr dirty="0"/>
              <a:t>*[Pause.]*</a:t>
            </a:r>
          </a:p>
          <a:p>
            <a:endParaRPr dirty="0"/>
          </a:p>
          <a:p>
            <a:r>
              <a:rPr dirty="0"/>
              <a:t>Now listen to Paul explain why this account concerns us.</a:t>
            </a:r>
          </a:p>
          <a:p>
            <a:endParaRPr dirty="0"/>
          </a:p>
          <a:p>
            <a:r>
              <a:rPr dirty="0"/>
              <a:t>Romans 5:12 says that sin entered the world through one man, and death through sin, and death passed to all because all sinned.</a:t>
            </a:r>
          </a:p>
          <a:p>
            <a:endParaRPr dirty="0"/>
          </a:p>
          <a:p>
            <a:r>
              <a:rPr dirty="0"/>
              <a:t>Paul traces our predicament back to Adam. But he also points us to Jesus Christ.</a:t>
            </a:r>
          </a:p>
          <a:p>
            <a:endParaRPr dirty="0"/>
          </a:p>
          <a:p>
            <a:r>
              <a:rPr dirty="0"/>
              <a:t>Romans 5:17 says that those who receive the abundance of grace and the gift of righteousness will reign in life through Jesus Christ.</a:t>
            </a:r>
          </a:p>
          <a:p>
            <a:endParaRPr dirty="0"/>
          </a:p>
          <a:p>
            <a:r>
              <a:rPr dirty="0"/>
              <a:t>Notice the language: **receive**. **Grace**. **Gift**.</a:t>
            </a:r>
          </a:p>
          <a:p>
            <a:endParaRPr dirty="0"/>
          </a:p>
          <a:p>
            <a:r>
              <a:rPr dirty="0"/>
              <a:t>Earlier in that chapter, Paul says that we were reconciled to God through the death of His Son, and that through Jesus Christ we have received reconciliation. (Romans 5:10–11.)</a:t>
            </a:r>
          </a:p>
          <a:p>
            <a:endParaRPr dirty="0"/>
          </a:p>
          <a:p>
            <a:r>
              <a:rPr dirty="0"/>
              <a:t>His explanation of salvation reaches back to the beginning. Humanity’s sin and death provide the setting in which we understand Christ’s death and the life He gives.</a:t>
            </a:r>
          </a:p>
          <a:p>
            <a:endParaRPr dirty="0"/>
          </a:p>
          <a:p>
            <a:r>
              <a:rPr dirty="0"/>
              <a:t>If we reduce our problem to needing a few improvements, we will underestimate what Christ came to accomplish. Paul speaks of people who need reconciliation with God and deliverance from the reign of death.</a:t>
            </a:r>
          </a:p>
          <a:p>
            <a:endParaRPr dirty="0"/>
          </a:p>
          <a:p>
            <a:r>
              <a:rPr dirty="0"/>
              <a:t>That is the depth of our need. And that is where God’s grace meets 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Return to Genesis 3. Alongside the judgment, God speaks to the serpent:</a:t>
            </a:r>
          </a:p>
          <a:p>
            <a:endParaRPr dirty="0"/>
          </a:p>
          <a:p>
            <a:r>
              <a:rPr dirty="0"/>
              <a:t>&gt; **“He will bruise your head, and you will bruise his heel.”**</a:t>
            </a:r>
          </a:p>
          <a:p>
            <a:endParaRPr dirty="0"/>
          </a:p>
          <a:p>
            <a:r>
              <a:rPr dirty="0"/>
              <a:t>There is conflict ahead, but also the promise of a blow to the serpent’s head. Who will this offspring be? Genesis does not yet name Him. Let’s keep listening as Scripture unfolds.</a:t>
            </a:r>
          </a:p>
          <a:p>
            <a:endParaRPr dirty="0"/>
          </a:p>
          <a:p>
            <a:r>
              <a:rPr dirty="0"/>
              <a:t>Later, God tells Abraham:</a:t>
            </a:r>
          </a:p>
          <a:p>
            <a:endParaRPr dirty="0"/>
          </a:p>
          <a:p>
            <a:r>
              <a:rPr dirty="0"/>
              <a:t>&gt; **“All the families of the earth will be blessed through you.”**</a:t>
            </a:r>
          </a:p>
          <a:p>
            <a:endParaRPr dirty="0"/>
          </a:p>
          <a:p>
            <a:r>
              <a:rPr dirty="0"/>
              <a:t>Then, in Genesis 22:18:</a:t>
            </a:r>
          </a:p>
          <a:p>
            <a:endParaRPr dirty="0"/>
          </a:p>
          <a:p>
            <a:r>
              <a:rPr dirty="0"/>
              <a:t>&gt; **“All the nations of the earth will be blessed by your offspring, because you have obeyed my voice.”**</a:t>
            </a:r>
          </a:p>
          <a:p>
            <a:endParaRPr dirty="0"/>
          </a:p>
          <a:p>
            <a:r>
              <a:rPr dirty="0"/>
              <a:t>Think about the reach of that promise. God speaks to one man about a blessing that will extend to all the nations.</a:t>
            </a:r>
          </a:p>
          <a:p>
            <a:endParaRPr dirty="0"/>
          </a:p>
          <a:p>
            <a:r>
              <a:rPr dirty="0"/>
              <a:t>But what is this blessing? And who is the offspring through whom it will come?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Listen to how Paul explains the promise in Galatians 3:8:</a:t>
            </a:r>
          </a:p>
          <a:p>
            <a:endParaRPr dirty="0"/>
          </a:p>
          <a:p>
            <a:r>
              <a:rPr dirty="0"/>
              <a:t>&gt; **“The Scripture, foreseeing that God would justify the Gentiles by faith, preached the Good News beforehand to Abraham, saying, ‘In you all the nations will be blessed.’”**</a:t>
            </a:r>
          </a:p>
          <a:p>
            <a:endParaRPr dirty="0"/>
          </a:p>
          <a:p>
            <a:r>
              <a:rPr dirty="0"/>
              <a:t>*[Pause.]*</a:t>
            </a:r>
          </a:p>
          <a:p>
            <a:endParaRPr dirty="0"/>
          </a:p>
          <a:p>
            <a:r>
              <a:rPr dirty="0"/>
              <a:t>Paul calls that promise **the Good News—the gospel—preached beforehand to Abraham.**</a:t>
            </a:r>
          </a:p>
          <a:p>
            <a:endParaRPr dirty="0"/>
          </a:p>
          <a:p>
            <a:r>
              <a:rPr dirty="0"/>
              <a:t>That is a remarkable connection. As we read Genesis, we hear a promise of blessing. Paul explains that God was announcing beforehand that He would justify the Gentiles by faith—that people from the nations would be declared righteous before Him through faith.</a:t>
            </a:r>
          </a:p>
          <a:p>
            <a:endParaRPr dirty="0"/>
          </a:p>
          <a:p>
            <a:r>
              <a:rPr dirty="0"/>
              <a:t>And who is the promised offspring?</a:t>
            </a:r>
          </a:p>
          <a:p>
            <a:endParaRPr dirty="0"/>
          </a:p>
          <a:p>
            <a:r>
              <a:rPr dirty="0"/>
              <a:t>Paul answers in verse 16:</a:t>
            </a:r>
          </a:p>
          <a:p>
            <a:endParaRPr dirty="0"/>
          </a:p>
          <a:p>
            <a:r>
              <a:rPr dirty="0"/>
              <a:t>&gt; **“He doesn’t say, ‘To descendants’, as of many, but as of one, ‘To your offspring’, which is Christ.”**</a:t>
            </a:r>
          </a:p>
          <a:p>
            <a:endParaRPr dirty="0"/>
          </a:p>
          <a:p>
            <a:r>
              <a:rPr dirty="0"/>
              <a:t>Now the connection comes into focus. The blessing promised to Abraham reaches the nations through Jesus Christ.</a:t>
            </a:r>
          </a:p>
          <a:p>
            <a:endParaRPr dirty="0"/>
          </a:p>
          <a:p>
            <a:r>
              <a:rPr dirty="0"/>
              <a:t>Remember what we heard in Luke 24? Jesus said that repentance and forgiveness of sins would be proclaimed in His name **to all nations**.</a:t>
            </a:r>
          </a:p>
          <a:p>
            <a:endParaRPr dirty="0"/>
          </a:p>
          <a:p>
            <a:r>
              <a:rPr dirty="0"/>
              <a:t>Here, Paul takes us back to God’s promise to Abraham and shows us that this worldwide reach was already there.</a:t>
            </a:r>
          </a:p>
          <a:p>
            <a:endParaRPr dirty="0"/>
          </a:p>
          <a:p>
            <a:r>
              <a:rPr dirty="0"/>
              <a:t>We are beginning to see how these passages belong together. God gives the promise. Paul identifies it as the gospel announced beforehand and points to Christ as its fulfillment.</a:t>
            </a:r>
          </a:p>
          <a:p>
            <a:endParaRPr dirty="0"/>
          </a:p>
          <a:p>
            <a:r>
              <a:rPr dirty="0"/>
              <a:t>And that promise reaches far enough to include 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Next, listen to God’s promise through Moses in Deuteronomy 18:18–19. God will raise up a prophet from among the people, put His words in that prophet’s mouth, and hold people responsible for listening.</a:t>
            </a:r>
          </a:p>
          <a:p>
            <a:endParaRPr dirty="0"/>
          </a:p>
          <a:p>
            <a:r>
              <a:rPr dirty="0"/>
              <a:t>In Acts 3, Peter quotes that promise while proclaiming Jesus:</a:t>
            </a:r>
          </a:p>
          <a:p>
            <a:endParaRPr dirty="0"/>
          </a:p>
          <a:p>
            <a:r>
              <a:rPr dirty="0"/>
              <a:t>&gt; “You shall listen to him in all things whatever he says to you.”</a:t>
            </a:r>
          </a:p>
          <a:p>
            <a:endParaRPr dirty="0"/>
          </a:p>
          <a:p>
            <a:r>
              <a:rPr dirty="0"/>
              <a:t>Then Peter brings Abraham into the same explanation, recalling the promised blessing for all families of the earth. He tells his hearers that God sent His servant Jesus to bless them by turning them from their wickedness. (Acts 3:22, 25–26.)</a:t>
            </a:r>
          </a:p>
          <a:p>
            <a:endParaRPr dirty="0"/>
          </a:p>
          <a:p>
            <a:r>
              <a:rPr dirty="0"/>
              <a:t>Moses. Abraham. Jesus.</a:t>
            </a:r>
          </a:p>
          <a:p>
            <a:endParaRPr dirty="0"/>
          </a:p>
          <a:p>
            <a:r>
              <a:rPr dirty="0"/>
              <a:t>Peter connects them in his proclamation. The promised blessing carries a claim upon those who hear: listen to the One God has sent.</a:t>
            </a:r>
          </a:p>
          <a:p>
            <a:endParaRPr dirty="0"/>
          </a:p>
          <a:p>
            <a:r>
              <a:rPr dirty="0"/>
              <a:t>Now listen to David.</a:t>
            </a:r>
          </a:p>
          <a:p>
            <a:endParaRPr dirty="0"/>
          </a:p>
          <a:p>
            <a:r>
              <a:rPr dirty="0"/>
              <a:t>In Psalm 16:10, he writes:</a:t>
            </a:r>
          </a:p>
          <a:p>
            <a:endParaRPr dirty="0"/>
          </a:p>
          <a:p>
            <a:r>
              <a:rPr dirty="0"/>
              <a:t>&gt; “For you will not leave my soul in </a:t>
            </a:r>
            <a:r>
              <a:rPr dirty="0" err="1"/>
              <a:t>Sheol</a:t>
            </a:r>
            <a:r>
              <a:rPr dirty="0"/>
              <a:t>, neither will you allow your holy one to see corruption.”</a:t>
            </a:r>
          </a:p>
          <a:p>
            <a:endParaRPr dirty="0"/>
          </a:p>
          <a:p>
            <a:r>
              <a:rPr dirty="0"/>
              <a:t>What does that mean? Peter addresses it in Acts 2:30–32. David was a prophet who knew God’s oath concerning a descendant who would sit on his throne. Peter explains that David spoke ahead of Christ’s resurrection.</a:t>
            </a:r>
          </a:p>
          <a:p>
            <a:endParaRPr dirty="0"/>
          </a:p>
          <a:p>
            <a:r>
              <a:rPr dirty="0"/>
              <a:t>Then Peter announces:</a:t>
            </a:r>
          </a:p>
          <a:p>
            <a:endParaRPr dirty="0"/>
          </a:p>
          <a:p>
            <a:r>
              <a:rPr dirty="0"/>
              <a:t>&gt; “This Jesus God raised up, to which we all are witnesses.”</a:t>
            </a:r>
          </a:p>
          <a:p>
            <a:endParaRPr dirty="0"/>
          </a:p>
          <a:p>
            <a:r>
              <a:rPr dirty="0"/>
              <a:t>A promise in the Psalms. Its fulfillment proclaimed in Acts. And witnesses declaring that God raised Jesus from the dead.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Now we come to Isaiah.</a:t>
            </a:r>
          </a:p>
          <a:p>
            <a:endParaRPr dirty="0"/>
          </a:p>
          <a:p>
            <a:r>
              <a:rPr dirty="0"/>
              <a:t>Isaiah 52:13 introduces God’s servant as one who will act wisely and be exalted. Then chapter 53 asks:</a:t>
            </a:r>
          </a:p>
          <a:p>
            <a:endParaRPr dirty="0"/>
          </a:p>
          <a:p>
            <a:r>
              <a:rPr dirty="0"/>
              <a:t>&gt; “Who has believed our message?”</a:t>
            </a:r>
          </a:p>
          <a:p>
            <a:endParaRPr dirty="0"/>
          </a:p>
          <a:p>
            <a:r>
              <a:rPr dirty="0"/>
              <a:t>That question belongs in this speech. A message can be heard and still be rejected. What is the message Isaiah asks people to believe?</a:t>
            </a:r>
          </a:p>
          <a:p>
            <a:endParaRPr dirty="0"/>
          </a:p>
          <a:p>
            <a:r>
              <a:rPr dirty="0"/>
              <a:t>Listen to verses 5–6:</a:t>
            </a:r>
          </a:p>
          <a:p>
            <a:endParaRPr dirty="0"/>
          </a:p>
          <a:p>
            <a:r>
              <a:rPr dirty="0"/>
              <a:t>&gt; “But he was pierced for our transgressions.</a:t>
            </a:r>
          </a:p>
          <a:p>
            <a:r>
              <a:rPr dirty="0"/>
              <a:t>&gt; He was crushed for our iniquities.</a:t>
            </a:r>
          </a:p>
          <a:p>
            <a:r>
              <a:rPr dirty="0"/>
              <a:t>&gt; The punishment that brought our peace was on him;</a:t>
            </a:r>
          </a:p>
          <a:p>
            <a:r>
              <a:rPr dirty="0"/>
              <a:t>&gt; and by his wounds we are healed.</a:t>
            </a:r>
          </a:p>
          <a:p>
            <a:r>
              <a:rPr dirty="0"/>
              <a:t>&gt;</a:t>
            </a:r>
          </a:p>
          <a:p>
            <a:r>
              <a:rPr dirty="0"/>
              <a:t>&gt; All we like sheep have gone astray.</a:t>
            </a:r>
          </a:p>
          <a:p>
            <a:r>
              <a:rPr dirty="0"/>
              <a:t>&gt; Everyone has turned to his own way;</a:t>
            </a:r>
          </a:p>
          <a:p>
            <a:r>
              <a:rPr dirty="0"/>
              <a:t>&gt; and Yahweh has laid on him the iniquity of us all.”</a:t>
            </a:r>
          </a:p>
          <a:p>
            <a:endParaRPr dirty="0"/>
          </a:p>
          <a:p>
            <a:r>
              <a:rPr dirty="0"/>
              <a:t>Listen to the pronouns. He was pierced. Our transgressions. He was crushed. Our iniquities. The punishment was on Him. The peace comes to us.</a:t>
            </a:r>
          </a:p>
          <a:p>
            <a:endParaRPr dirty="0"/>
          </a:p>
          <a:p>
            <a:r>
              <a:rPr dirty="0"/>
              <a:t>The servant bears the consequences of other people’s sins.</a:t>
            </a:r>
          </a:p>
          <a:p>
            <a:endParaRPr dirty="0"/>
          </a:p>
          <a:p>
            <a:r>
              <a:rPr dirty="0"/>
              <a:t>And Isaiah’s description includes all of us: “Everyone has turned to his own way.”</a:t>
            </a:r>
          </a:p>
          <a:p>
            <a:endParaRPr dirty="0"/>
          </a:p>
          <a:p>
            <a:r>
              <a:rPr dirty="0"/>
              <a:t>We may take different roads, but every one of us understands wanting our own way. We know what it is to resist correction, defend ourselves, and want the authority to decide what is right for us.</a:t>
            </a:r>
          </a:p>
          <a:p>
            <a:endParaRPr dirty="0"/>
          </a:p>
          <a:p>
            <a:r>
              <a:rPr dirty="0"/>
              <a:t>Isaiah then describes the servant being cut off from the land of the living. He speaks of His grave with the wicked and with a rich man in His death, while affirming His innocence: He had done no violence, and there was no deceit in His mouth. (Isaiah 53:8–9.)</a:t>
            </a:r>
          </a:p>
          <a:p>
            <a:endParaRPr dirty="0"/>
          </a:p>
          <a:p>
            <a:r>
              <a:rPr dirty="0"/>
              <a:t>Yet the passage continues beyond His suffering. The servant will see His offspring; His days will be prolonged; God’s purpose will prosper in His hand. He will justify many and bear their iniquities. He receives a reward, having poured out His soul to death and made intercession for transgressors. (Isaiah 53:10–12.)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Who is this servant?</a:t>
            </a:r>
          </a:p>
          <a:p>
            <a:endParaRPr dirty="0"/>
          </a:p>
          <a:p>
            <a:r>
              <a:rPr dirty="0"/>
              <a:t>An Ethiopian official asked that very question while reading Isaiah 53. In Acts 8:34, he asks Philip whether the prophet is speaking about himself or someone else.</a:t>
            </a:r>
          </a:p>
          <a:p>
            <a:endParaRPr dirty="0"/>
          </a:p>
          <a:p>
            <a:r>
              <a:rPr dirty="0"/>
              <a:t>The next verse tells us:</a:t>
            </a:r>
          </a:p>
          <a:p>
            <a:endParaRPr dirty="0"/>
          </a:p>
          <a:p>
            <a:r>
              <a:rPr dirty="0"/>
              <a:t>&gt; “Philip opened his mouth, and beginning from this Scripture, preached to him about Jesus.”</a:t>
            </a:r>
          </a:p>
          <a:p>
            <a:endParaRPr dirty="0"/>
          </a:p>
          <a:p>
            <a:r>
              <a:rPr dirty="0"/>
              <a:t>Philip begins where the man is reading and tells him about Christ.</a:t>
            </a:r>
          </a:p>
          <a:p>
            <a:endParaRPr dirty="0"/>
          </a:p>
          <a:p>
            <a:r>
              <a:rPr dirty="0"/>
              <a:t>Paul also connects Isaiah’s opening question with the response to the gospel. In Romans 10:16, he says that not everyone obeyed the Good News, and then quotes Isaiah: “Lord, who has believed our report?”</a:t>
            </a:r>
          </a:p>
          <a:p>
            <a:endParaRPr dirty="0"/>
          </a:p>
          <a:p>
            <a:r>
              <a:rPr dirty="0"/>
              <a:t>The connection is there in the apostolic testimony. Isaiah’s message directs us to Jesus—and brings us again to the question of belief.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Did the prophets understand every detail of how and when these things would happen?</a:t>
            </a:r>
          </a:p>
          <a:p>
            <a:endParaRPr dirty="0"/>
          </a:p>
          <a:p>
            <a:r>
              <a:rPr dirty="0"/>
              <a:t>Peter gives us a careful answer in 1 Peter 1:10–12. They searched diligently. They investigated the time and circumstances indicated by the Spirit of Christ within them, who testified beforehand about Christ’s sufferings and the glories to follow.</a:t>
            </a:r>
          </a:p>
          <a:p>
            <a:endParaRPr dirty="0"/>
          </a:p>
          <a:p>
            <a:r>
              <a:rPr dirty="0"/>
              <a:t>They received revelation, and they sought to understand it. They knew they were serving people who would come later.</a:t>
            </a:r>
          </a:p>
          <a:p>
            <a:endParaRPr dirty="0"/>
          </a:p>
          <a:p>
            <a:r>
              <a:rPr dirty="0"/>
              <a:t>Peter says that what they anticipated had now been announced through those who preached the gospel by the Holy Spirit sent from heaven. He adds that these are things angels desire to look into.</a:t>
            </a:r>
          </a:p>
          <a:p>
            <a:endParaRPr dirty="0"/>
          </a:p>
          <a:p>
            <a:r>
              <a:rPr dirty="0"/>
              <a:t>Consider that for a moment. The salvation we can become so accustomed to hearing about is described as something that commands the interest of angels.</a:t>
            </a:r>
          </a:p>
          <a:p>
            <a:endParaRPr dirty="0"/>
          </a:p>
          <a:p>
            <a:r>
              <a:rPr dirty="0"/>
              <a:t>Perhaps our familiarity has made us less attentive than we should be.</a:t>
            </a:r>
          </a:p>
          <a:p>
            <a:endParaRPr dirty="0"/>
          </a:p>
          <a:p>
            <a:r>
              <a:rPr dirty="0"/>
              <a:t>The prophets searched. The apostles proclaimed. We have the opportunity to listen to both.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Paul describes his own testimony in Acts 26:22–23 as saying what Moses and the prophets said would happen: Christ would suffer, rise from the dead, and proclaim light to Israel and the Gentiles.</a:t>
            </a:r>
          </a:p>
          <a:p>
            <a:endParaRPr dirty="0"/>
          </a:p>
          <a:p>
            <a:r>
              <a:rPr dirty="0"/>
              <a:t>We have heard that pattern before. It is the explanation Jesus gave in Luke 24.</a:t>
            </a:r>
          </a:p>
          <a:p>
            <a:endParaRPr dirty="0"/>
          </a:p>
          <a:p>
            <a:r>
              <a:rPr dirty="0"/>
              <a:t>Now hear Paul state the gospel in 1 Corinthians 15:3–4:</a:t>
            </a:r>
          </a:p>
          <a:p>
            <a:endParaRPr dirty="0"/>
          </a:p>
          <a:p>
            <a:r>
              <a:rPr dirty="0"/>
              <a:t>&gt; “Christ died for our sins according to the Scriptures, that he was buried, that he was raised on the third day according to the Scriptures.”</a:t>
            </a:r>
          </a:p>
          <a:p>
            <a:endParaRPr dirty="0"/>
          </a:p>
          <a:p>
            <a:r>
              <a:rPr dirty="0"/>
              <a:t>Twice: “according to the Scriptures.”</a:t>
            </a:r>
          </a:p>
          <a:p>
            <a:endParaRPr dirty="0"/>
          </a:p>
          <a:p>
            <a:r>
              <a:rPr dirty="0"/>
              <a:t>Christ’s death and resurrection belong within the testimony we have been tracing. And notice why He died: **for our sins**.</a:t>
            </a:r>
          </a:p>
          <a:p>
            <a:endParaRPr dirty="0"/>
          </a:p>
          <a:p>
            <a:r>
              <a:rPr dirty="0"/>
              <a:t>This message concerns events, and it tells us their significance. Christ died. He was buried. He rose. His death addresses our sins.</a:t>
            </a:r>
          </a:p>
          <a:p>
            <a:endParaRPr dirty="0"/>
          </a:p>
          <a:p>
            <a:r>
              <a:rPr dirty="0"/>
              <a:t>After naming witnesses to the resurrection, Paul says:</a:t>
            </a:r>
          </a:p>
          <a:p>
            <a:endParaRPr dirty="0"/>
          </a:p>
          <a:p>
            <a:r>
              <a:rPr dirty="0"/>
              <a:t>&gt; “Whether then it is I or they, so we preach, and so you believed.”</a:t>
            </a:r>
          </a:p>
          <a:p>
            <a:endParaRPr dirty="0"/>
          </a:p>
          <a:p>
            <a:r>
              <a:rPr dirty="0"/>
              <a:t>Paul and the other apostles proclaimed the same gospel. Their hearers were called to believe the same testimony about Jesus Christ.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What happens when that message passes to another generation?</a:t>
            </a:r>
          </a:p>
          <a:p>
            <a:endParaRPr dirty="0"/>
          </a:p>
          <a:p>
            <a:r>
              <a:rPr dirty="0"/>
              <a:t>Paul tells Timothy to hold the pattern of sound words he has heard and guard what has been entrusted to him, through the Holy Spirit. He specifies the manner as well: in the faith and love that are in Christ Jesus. (2 Timothy 1:13–14.)</a:t>
            </a:r>
          </a:p>
          <a:p>
            <a:endParaRPr dirty="0"/>
          </a:p>
          <a:p>
            <a:r>
              <a:rPr dirty="0"/>
              <a:t>There is something to preserve, and there is a way to preserve it. Faithfulness to the message belongs together with faith and love.</a:t>
            </a:r>
          </a:p>
          <a:p>
            <a:endParaRPr dirty="0"/>
          </a:p>
          <a:p>
            <a:r>
              <a:rPr dirty="0"/>
              <a:t>Then Paul says in 2 Timothy 2:2:</a:t>
            </a:r>
          </a:p>
          <a:p>
            <a:endParaRPr dirty="0"/>
          </a:p>
          <a:p>
            <a:r>
              <a:rPr dirty="0"/>
              <a:t>&gt; “The things which you have heard from me among many witnesses, commit the same things to faithful men who will be able to teach others also.”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Notice the people in that sentence: Paul, Timothy, faithful teachers, and the people those teachers will teach.</a:t>
            </a:r>
          </a:p>
          <a:p>
            <a:endParaRPr dirty="0"/>
          </a:p>
          <a:p>
            <a:r>
              <a:rPr dirty="0"/>
              <a:t>Four stages of transmission in a single verse. And what is Timothy to entrust to the next teachers? “The same things.”</a:t>
            </a:r>
          </a:p>
          <a:p>
            <a:endParaRPr dirty="0"/>
          </a:p>
          <a:p>
            <a:r>
              <a:rPr dirty="0"/>
              <a:t>There is room for careful explanation. Every teacher must work to be understood. But the message being explained has been entrusted to us. We are responsible for what we pass on.</a:t>
            </a:r>
          </a:p>
          <a:p>
            <a:endParaRPr dirty="0"/>
          </a:p>
          <a:p>
            <a:r>
              <a:rPr dirty="0"/>
              <a:t>What remains at its center?</a:t>
            </a:r>
          </a:p>
          <a:p>
            <a:endParaRPr dirty="0"/>
          </a:p>
          <a:p>
            <a:r>
              <a:rPr dirty="0"/>
              <a:t>Paul tells Timothy in verse 8:</a:t>
            </a:r>
          </a:p>
          <a:p>
            <a:endParaRPr dirty="0"/>
          </a:p>
          <a:p>
            <a:r>
              <a:rPr dirty="0"/>
              <a:t>&gt; “Remember Jesus Christ, risen from the dead, of the offspring of David, according to my Good News.”</a:t>
            </a:r>
          </a:p>
          <a:p>
            <a:endParaRPr dirty="0"/>
          </a:p>
          <a:p>
            <a:r>
              <a:rPr dirty="0"/>
              <a:t>There is David again. There is the resurrection again. The promised Christ remains central as the gospel goes forward.</a:t>
            </a:r>
          </a:p>
          <a:p>
            <a:endParaRPr dirty="0"/>
          </a:p>
          <a:p>
            <a:r>
              <a:rPr dirty="0"/>
              <a:t>Jude likewise urges believers to contend earnestly for the faith “once for all delivered to the saints.” (Jude 3.)</a:t>
            </a:r>
          </a:p>
          <a:p>
            <a:endParaRPr dirty="0"/>
          </a:p>
          <a:p>
            <a:r>
              <a:rPr dirty="0"/>
              <a:t>And in Romans 16:25–26, Paul brings together the proclamation of Jesus Christ, the prophetic Scriptures, the command of the eternal God, and the message made known to all nations for the obedience of faith.</a:t>
            </a:r>
          </a:p>
          <a:p>
            <a:endParaRPr dirty="0"/>
          </a:p>
          <a:p>
            <a:r>
              <a:rPr dirty="0"/>
              <a:t>The promise to the nations reaches the nations. The testimony concerning Christ is proclaimed so that people will believe.</a:t>
            </a:r>
          </a:p>
          <a:p>
            <a:endParaRPr dirty="0"/>
          </a:p>
          <a:p>
            <a:r>
              <a:rPr dirty="0"/>
              <a:t>That responsibility now reaches our generation. It reaches this room. What are we receiving—and what are we passing 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 began with many voices competing for our trust.</a:t>
            </a:r>
          </a:p>
          <a:p>
            <a:endParaRPr dirty="0"/>
          </a:p>
          <a:p>
            <a:r>
              <a:rPr dirty="0"/>
              <a:t>Then we listened to the testimony of Scripture. We heard about creation and the God who gives life. We heard His warning about death and the voice that contradicted Him. We saw humanity’s disobedience and its consequences.</a:t>
            </a:r>
          </a:p>
          <a:p>
            <a:endParaRPr dirty="0"/>
          </a:p>
          <a:p>
            <a:r>
              <a:rPr dirty="0"/>
              <a:t>We followed the promise through Abraham. We listened to Moses, David, and Isaiah. We heard Jesus explain the Scriptures concerning Himself. We heard the apostles proclaim His death for our sins and His resurrection, and charge others to preserve that message.</a:t>
            </a:r>
          </a:p>
          <a:p>
            <a:endParaRPr dirty="0"/>
          </a:p>
          <a:p>
            <a:r>
              <a:rPr dirty="0"/>
              <a:t>Their agreement matters. But agreement alone does not prove a claim true. People can agree and be mistaken. We should be honest about that.</a:t>
            </a:r>
          </a:p>
          <a:p>
            <a:endParaRPr dirty="0"/>
          </a:p>
          <a:p>
            <a:r>
              <a:rPr dirty="0"/>
              <a:t>What we have traced is Scripture’s connected testimony: what it claims God promised, how it identifies the fulfillment in Jesus, and what the apostles testify they witnessed. That gives us something substantial to consider. It also shows why Christians receive Scripture as more than another human opinion: its claimed authority is the authority of God speaking.</a:t>
            </a:r>
          </a:p>
          <a:p>
            <a:endParaRPr dirty="0"/>
          </a:p>
          <a:p>
            <a:r>
              <a:rPr dirty="0"/>
              <a:t>And if God has spoken, then my beliefs must answer to His Word. So must the beliefs of my family, my teachers, my church, and the person giving this speech.</a:t>
            </a:r>
          </a:p>
          <a:p>
            <a:endParaRPr dirty="0"/>
          </a:p>
          <a:p>
            <a:r>
              <a:rPr dirty="0"/>
              <a:t>You should examine what I have said by the passages we have considered.</a:t>
            </a:r>
          </a:p>
          <a:p>
            <a:endParaRPr dirty="0"/>
          </a:p>
          <a:p>
            <a:r>
              <a:rPr dirty="0"/>
              <a:t>The question is whether we are willing to apply that examination to the ideas we most want to protect.</a:t>
            </a:r>
          </a:p>
          <a:p>
            <a:endParaRPr dirty="0"/>
          </a:p>
          <a:p>
            <a:r>
              <a:rPr dirty="0"/>
              <a:t>“I have always believed it” tells us how long we have held a conviction. It does not establish whether the conviction is true.</a:t>
            </a:r>
          </a:p>
          <a:p>
            <a:endParaRPr dirty="0"/>
          </a:p>
          <a:p>
            <a:r>
              <a:rPr dirty="0"/>
              <a:t>“Someone I respect taught me” explains where we learned it. Even someone we respect can need correction.</a:t>
            </a:r>
          </a:p>
          <a:p>
            <a:endParaRPr dirty="0"/>
          </a:p>
          <a:p>
            <a:r>
              <a:rPr dirty="0"/>
              <a:t>“It feels right” describes our response. Our feelings also need to be examined.</a:t>
            </a:r>
          </a:p>
          <a:p>
            <a:endParaRPr dirty="0"/>
          </a:p>
          <a:p>
            <a:r>
              <a:rPr dirty="0"/>
              <a:t>That examination can be uncomfortable. Sometimes changing our minds means admitting that we defended something we had never studied very carefully. Sometimes it means letting go of an idea we inherited from people we love.</a:t>
            </a:r>
          </a:p>
          <a:p>
            <a:endParaRPr dirty="0"/>
          </a:p>
          <a:p>
            <a:r>
              <a:rPr dirty="0"/>
              <a:t>But we can love those people and still examine what they taught us. We can acknowledge that we were mistaken and be grateful to learn what is true.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 here is a practical place to begin. Take one belief you hold about God, salvation, or life after death. Ask yourself: Where did I learn this? What does Scripture actually say? Have I read the passage in its context? Would I accept its teaching if it required me to change my mind?</a:t>
            </a:r>
          </a:p>
          <a:p>
            <a:endParaRPr dirty="0"/>
          </a:p>
          <a:p>
            <a:r>
              <a:rPr dirty="0"/>
              <a:t>And keep the purpose of that examination before you. Jesus warned that people could search the Scriptures and still refuse to come to Him for life.</a:t>
            </a:r>
          </a:p>
          <a:p>
            <a:endParaRPr dirty="0"/>
          </a:p>
          <a:p>
            <a:r>
              <a:rPr dirty="0"/>
              <a:t>The message we have traced brings us to Him: the One who died for our sins and rose from the dead. Through Him, forgiveness is proclaimed. Through Him, reconciliation is received. In Him, God’s promise of blessing reaches the nations.</a:t>
            </a:r>
          </a:p>
          <a:p>
            <a:endParaRPr dirty="0"/>
          </a:p>
          <a:p>
            <a:r>
              <a:rPr dirty="0"/>
              <a:t>And the invitation at the end of Scripture still speaks with wonderful simplicity:</a:t>
            </a:r>
          </a:p>
          <a:p>
            <a:endParaRPr dirty="0"/>
          </a:p>
          <a:p>
            <a:r>
              <a:rPr dirty="0"/>
              <a:t>&gt; “He who is thirsty, let him come. He who desires, let him take the water of life freely.”</a:t>
            </a:r>
          </a:p>
          <a:p>
            <a:endParaRPr dirty="0"/>
          </a:p>
          <a:p>
            <a:r>
              <a:rPr dirty="0"/>
              <a:t>*[Pause.]*</a:t>
            </a:r>
          </a:p>
          <a:p>
            <a:endParaRPr dirty="0"/>
          </a:p>
          <a:p>
            <a:r>
              <a:rPr dirty="0"/>
              <a:t>Imagine opening the Bible tomorrow morning and discovering that something you have believed for twenty years is wrong.</a:t>
            </a:r>
          </a:p>
          <a:p>
            <a:endParaRPr dirty="0"/>
          </a:p>
          <a:p>
            <a:r>
              <a:rPr dirty="0"/>
              <a:t>That could be the beginning of a very good day.</a:t>
            </a:r>
          </a:p>
          <a:p>
            <a:endParaRPr dirty="0"/>
          </a:p>
          <a:p>
            <a:r>
              <a:rPr dirty="0"/>
              <a:t>You could put down the burden of defending it. You could receive the correction. You could come to know Christ more clearly and trust Him more fully.</a:t>
            </a:r>
          </a:p>
          <a:p>
            <a:endParaRPr dirty="0"/>
          </a:p>
          <a:p>
            <a:r>
              <a:rPr dirty="0"/>
              <a:t>Many books. One message. Jesus Christ at its center.</a:t>
            </a:r>
          </a:p>
          <a:p>
            <a:endParaRPr dirty="0"/>
          </a:p>
          <a:p>
            <a:r>
              <a:rPr dirty="0"/>
              <a:t>Will we trust His testimony—and allow His Word to change our minds?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8906" b="28906"/>
          <a:stretch>
            <a:fillRect/>
          </a:stretch>
        </p:blipFill>
        <p:spPr>
          <a:xfrm>
            <a:off x="0" y="0"/>
            <a:ext cx="12192000" cy="6858000"/>
          </a:xfrm>
          <a:prstGeom prst="rect">
            <a:avLst/>
          </a:prstGeom>
        </p:spPr>
      </p:pic>
      <p:sp>
        <p:nvSpPr>
          <p:cNvPr id="2" name="Image darkening overlay">
            <a:extLst>
              <a:ext uri="{FF2B5EF4-FFF2-40B4-BE49-F238E27FC236}">
                <a16:creationId xmlns:a16="http://schemas.microsoft.com/office/drawing/2014/main" id="{532C98C8-DD55-4A7C-BE59-54F254D3DB35}"/>
              </a:ext>
            </a:extLst>
          </p:cNvPr>
          <p:cNvSpPr>
            <a:spLocks noGrp="1"/>
          </p:cNvSpPr>
          <p:nvPr/>
        </p:nvSpPr>
        <p:spPr>
          <a:xfrm>
            <a:off x="0" y="0"/>
            <a:ext cx="12192000" cy="6858000"/>
          </a:xfrm>
          <a:prstGeom prst="rect">
            <a:avLst/>
          </a:prstGeom>
          <a:solidFill>
            <a:srgbClr val="090A0C">
              <a:alpha val="74000"/>
            </a:srgbClr>
          </a:solidFill>
          <a:ln w="0">
            <a:noFill/>
          </a:ln>
        </p:spPr>
        <p:txBody>
          <a:bodyPr/>
          <a:lstStyle/>
          <a:p>
            <a:endParaRPr lang="en-US"/>
          </a:p>
        </p:txBody>
      </p:sp>
      <p:sp>
        <p:nvSpPr>
          <p:cNvPr id="3" name="Cover contrast overlay">
            <a:extLst>
              <a:ext uri="{FF2B5EF4-FFF2-40B4-BE49-F238E27FC236}">
                <a16:creationId xmlns:a16="http://schemas.microsoft.com/office/drawing/2014/main" id="{A956D376-D124-4AFE-ABB0-F1F23F2C6105}"/>
              </a:ext>
            </a:extLst>
          </p:cNvPr>
          <p:cNvSpPr>
            <a:spLocks noGrp="1"/>
          </p:cNvSpPr>
          <p:nvPr/>
        </p:nvSpPr>
        <p:spPr>
          <a:xfrm>
            <a:off x="0" y="0"/>
            <a:ext cx="12192000" cy="6858000"/>
          </a:xfrm>
          <a:prstGeom prst="rect">
            <a:avLst/>
          </a:prstGeom>
          <a:solidFill>
            <a:srgbClr val="090A0C">
              <a:alpha val="65000"/>
            </a:srgbClr>
          </a:solidFill>
          <a:ln w="0">
            <a:noFill/>
          </a:ln>
        </p:spPr>
        <p:txBody>
          <a:bodyPr/>
          <a:lstStyle/>
          <a:p>
            <a:endParaRPr lang="en-US"/>
          </a:p>
        </p:txBody>
      </p:sp>
      <p:sp>
        <p:nvSpPr>
          <p:cNvPr id="4" name="Rectangle 3">
            <a:extLst>
              <a:ext uri="{FF2B5EF4-FFF2-40B4-BE49-F238E27FC236}">
                <a16:creationId xmlns:a16="http://schemas.microsoft.com/office/drawing/2014/main" id="{2440CA56-4B63-439F-8368-C16BF0A9F90D}"/>
              </a:ext>
            </a:extLst>
          </p:cNvPr>
          <p:cNvSpPr>
            <a:spLocks noGrp="1"/>
          </p:cNvSpPr>
          <p:nvPr/>
        </p:nvSpPr>
        <p:spPr>
          <a:xfrm>
            <a:off x="762000" y="1924050"/>
            <a:ext cx="9906000" cy="121920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lang="en-CA" b="1" dirty="0">
                <a:solidFill>
                  <a:srgbClr val="F5F0E8"/>
                </a:solidFill>
                <a:latin typeface="Helvetica Neue"/>
              </a:rPr>
              <a:t>The Message Has Always Been One</a:t>
            </a:r>
            <a:endParaRPr b="1" dirty="0">
              <a:solidFill>
                <a:srgbClr val="F5F0E8"/>
              </a:solidFill>
              <a:latin typeface="Helvetica Neue"/>
              <a:ea typeface="Helvetica Neue"/>
              <a:cs typeface="Helvetica Neue"/>
            </a:endParaRPr>
          </a:p>
        </p:txBody>
      </p:sp>
      <p:sp>
        <p:nvSpPr>
          <p:cNvPr id="5" name="Rectangle 4">
            <a:extLst>
              <a:ext uri="{FF2B5EF4-FFF2-40B4-BE49-F238E27FC236}">
                <a16:creationId xmlns:a16="http://schemas.microsoft.com/office/drawing/2014/main" id="{13F9F49F-7451-4C5D-A489-00A6100F0D8F}"/>
              </a:ext>
            </a:extLst>
          </p:cNvPr>
          <p:cNvSpPr>
            <a:spLocks noGrp="1"/>
          </p:cNvSpPr>
          <p:nvPr/>
        </p:nvSpPr>
        <p:spPr>
          <a:xfrm>
            <a:off x="800100" y="3314700"/>
            <a:ext cx="7239000" cy="647700"/>
          </a:xfrm>
          <a:prstGeom prst="rect">
            <a:avLst/>
          </a:prstGeom>
          <a:noFill/>
          <a:ln w="0">
            <a:noFill/>
          </a:ln>
        </p:spPr>
        <p:txBody>
          <a:bodyPr>
            <a:noAutofit/>
          </a:bodyPr>
          <a:lstStyle/>
          <a:p>
            <a:pPr>
              <a:defRPr>
                <a:solidFill>
                  <a:srgbClr val="F5F0E8"/>
                </a:solidFill>
                <a:latin typeface="Helvetica Neue"/>
                <a:ea typeface="Helvetica Neue"/>
                <a:cs typeface="Helvetica Neue"/>
              </a:defRPr>
            </a:pPr>
            <a:r>
              <a:rPr>
                <a:solidFill>
                  <a:srgbClr val="F5F0E8"/>
                </a:solidFill>
                <a:latin typeface="Helvetica Neue"/>
                <a:ea typeface="Helvetica Neue"/>
                <a:cs typeface="Helvetica Neue"/>
              </a:rPr>
              <a:t>Jesus Christ at the center</a:t>
            </a:r>
          </a:p>
        </p:txBody>
      </p:sp>
      <p:sp>
        <p:nvSpPr>
          <p:cNvPr id="6" name="Rectangle 5">
            <a:extLst>
              <a:ext uri="{FF2B5EF4-FFF2-40B4-BE49-F238E27FC236}">
                <a16:creationId xmlns:a16="http://schemas.microsoft.com/office/drawing/2014/main" id="{B5A42A68-1C3E-44E5-B50A-C8C689762B5A}"/>
              </a:ext>
            </a:extLst>
          </p:cNvPr>
          <p:cNvSpPr>
            <a:spLocks noGrp="1"/>
          </p:cNvSpPr>
          <p:nvPr/>
        </p:nvSpPr>
        <p:spPr>
          <a:xfrm>
            <a:off x="800100" y="4324350"/>
            <a:ext cx="1143000" cy="57150"/>
          </a:xfrm>
          <a:prstGeom prst="rect">
            <a:avLst/>
          </a:prstGeom>
          <a:solidFill>
            <a:srgbClr val="D5A94F"/>
          </a:solidFill>
          <a:ln w="0">
            <a:noFill/>
          </a:ln>
        </p:spPr>
        <p:txBody>
          <a:bodyPr/>
          <a:lstStyle/>
          <a:p>
            <a:endParaRPr lang="en-US"/>
          </a:p>
        </p:txBody>
      </p:sp>
    </p:spTree>
    <p:extLst>
      <p:ext uri="{BB962C8B-B14F-4D97-AF65-F5344CB8AC3E}">
        <p14:creationId xmlns:p14="http://schemas.microsoft.com/office/powerpoint/2010/main" val="1050700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30842" r="30842"/>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C34C138F-65FE-46A7-955C-71DE98433204}"/>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6B8BC24B-8B77-4E1F-86FC-FFB310260C14}"/>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Which voice has authority?</a:t>
            </a:r>
          </a:p>
        </p:txBody>
      </p:sp>
      <p:sp>
        <p:nvSpPr>
          <p:cNvPr id="4" name="Rectangle 3">
            <a:extLst>
              <a:ext uri="{FF2B5EF4-FFF2-40B4-BE49-F238E27FC236}">
                <a16:creationId xmlns:a16="http://schemas.microsoft.com/office/drawing/2014/main" id="{4FFBDD67-3E38-4C3C-9CE4-8F03DA6EEFC0}"/>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B447DC95-52A9-42D8-A32F-6AAB35ACE208}"/>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Confident answers still need a foundation</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Familiarity, sincerity, and offense cannot make a belief true</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If God’s Word challenges me, am I willing to be corrected?</a:t>
            </a:r>
          </a:p>
        </p:txBody>
      </p:sp>
      <p:sp>
        <p:nvSpPr>
          <p:cNvPr id="6" name="Rectangle 5">
            <a:extLst>
              <a:ext uri="{FF2B5EF4-FFF2-40B4-BE49-F238E27FC236}">
                <a16:creationId xmlns:a16="http://schemas.microsoft.com/office/drawing/2014/main" id="{8C9F8380-D67D-4778-9295-54381F7DEC22}"/>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02</a:t>
            </a:r>
          </a:p>
        </p:txBody>
      </p:sp>
    </p:spTree>
    <p:extLst>
      <p:ext uri="{BB962C8B-B14F-4D97-AF65-F5344CB8AC3E}">
        <p14:creationId xmlns:p14="http://schemas.microsoft.com/office/powerpoint/2010/main" val="433905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8673" b="8673"/>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28AC77A1-0B3C-4309-846A-8E1B806DE172}"/>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85DFE9D4-9413-41BE-B74C-7B5F221D600E}"/>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Scriptures testify about Christ</a:t>
            </a:r>
          </a:p>
        </p:txBody>
      </p:sp>
      <p:sp>
        <p:nvSpPr>
          <p:cNvPr id="4" name="Rectangle 3">
            <a:extLst>
              <a:ext uri="{FF2B5EF4-FFF2-40B4-BE49-F238E27FC236}">
                <a16:creationId xmlns:a16="http://schemas.microsoft.com/office/drawing/2014/main" id="{3575FC13-A96B-4DC3-B725-89A34680D37E}"/>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A0A7AF33-B938-442B-AB4F-93CBF2903AB3}"/>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spoke through the prophets and through His Son</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Jesus says the Scriptures testify about Him</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Knowledge of the words must lead us to Christ for life</a:t>
            </a:r>
          </a:p>
        </p:txBody>
      </p:sp>
      <p:sp>
        <p:nvSpPr>
          <p:cNvPr id="6" name="Rectangle 5">
            <a:extLst>
              <a:ext uri="{FF2B5EF4-FFF2-40B4-BE49-F238E27FC236}">
                <a16:creationId xmlns:a16="http://schemas.microsoft.com/office/drawing/2014/main" id="{78601995-A4E1-401A-83B3-DA9ADAF2C667}"/>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03</a:t>
            </a:r>
          </a:p>
        </p:txBody>
      </p:sp>
    </p:spTree>
    <p:extLst>
      <p:ext uri="{BB962C8B-B14F-4D97-AF65-F5344CB8AC3E}">
        <p14:creationId xmlns:p14="http://schemas.microsoft.com/office/powerpoint/2010/main" val="243749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CB9A3669-C335-4D02-A68D-24BE93C63D6F}"/>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70503CC0-2397-4A56-AF22-2A486F7874D4}"/>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Come and receive life</a:t>
            </a:r>
          </a:p>
        </p:txBody>
      </p:sp>
      <p:sp>
        <p:nvSpPr>
          <p:cNvPr id="4" name="Rectangle 3">
            <a:extLst>
              <a:ext uri="{FF2B5EF4-FFF2-40B4-BE49-F238E27FC236}">
                <a16:creationId xmlns:a16="http://schemas.microsoft.com/office/drawing/2014/main" id="{9F02ACB5-8C0C-4A8B-8286-B931BEF43C4E}"/>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3675336B-9D10-4B86-927C-4F0A644F8C56}"/>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Jesus is the root and offspring of David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thirsty are invited to come</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water of life is offered freely</a:t>
            </a:r>
          </a:p>
        </p:txBody>
      </p:sp>
      <p:sp>
        <p:nvSpPr>
          <p:cNvPr id="6" name="Rectangle 5">
            <a:extLst>
              <a:ext uri="{FF2B5EF4-FFF2-40B4-BE49-F238E27FC236}">
                <a16:creationId xmlns:a16="http://schemas.microsoft.com/office/drawing/2014/main" id="{A8097735-7B9F-4F9E-BE80-20344A274F33}"/>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04</a:t>
            </a:r>
          </a:p>
        </p:txBody>
      </p:sp>
    </p:spTree>
    <p:extLst>
      <p:ext uri="{BB962C8B-B14F-4D97-AF65-F5344CB8AC3E}">
        <p14:creationId xmlns:p14="http://schemas.microsoft.com/office/powerpoint/2010/main" val="781197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432C7C79-AD73-497C-9D99-AB244DDEFB8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3EE12E56-2E8E-472B-A2DD-AE7475611833}"/>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Jesus explains the connection</a:t>
            </a:r>
          </a:p>
        </p:txBody>
      </p:sp>
      <p:sp>
        <p:nvSpPr>
          <p:cNvPr id="4" name="Rectangle 3">
            <a:extLst>
              <a:ext uri="{FF2B5EF4-FFF2-40B4-BE49-F238E27FC236}">
                <a16:creationId xmlns:a16="http://schemas.microsoft.com/office/drawing/2014/main" id="{75D1DA16-AC10-4FFD-B97B-69BAA2A4680C}"/>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123FDB28-2A11-40C0-A8BA-7434510CB745}"/>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Moses, the Prophets, and the Psalms speak concerning Christ</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Christ would suffer and rise on the third day</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Repentance and forgiveness would be proclaimed to all nations</a:t>
            </a:r>
          </a:p>
        </p:txBody>
      </p:sp>
      <p:sp>
        <p:nvSpPr>
          <p:cNvPr id="6" name="Rectangle 5">
            <a:extLst>
              <a:ext uri="{FF2B5EF4-FFF2-40B4-BE49-F238E27FC236}">
                <a16:creationId xmlns:a16="http://schemas.microsoft.com/office/drawing/2014/main" id="{5783687A-24FF-4CDE-8111-8F510E7C578E}"/>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05</a:t>
            </a:r>
          </a:p>
        </p:txBody>
      </p:sp>
    </p:spTree>
    <p:extLst>
      <p:ext uri="{BB962C8B-B14F-4D97-AF65-F5344CB8AC3E}">
        <p14:creationId xmlns:p14="http://schemas.microsoft.com/office/powerpoint/2010/main" val="249576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85730080-18FD-4206-BCA1-B01CCB996213}"/>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4CF04C46-4D4A-482C-AE69-AAD86B187CD6}"/>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Two voices in the garden</a:t>
            </a:r>
          </a:p>
        </p:txBody>
      </p:sp>
      <p:sp>
        <p:nvSpPr>
          <p:cNvPr id="4" name="Rectangle 3">
            <a:extLst>
              <a:ext uri="{FF2B5EF4-FFF2-40B4-BE49-F238E27FC236}">
                <a16:creationId xmlns:a16="http://schemas.microsoft.com/office/drawing/2014/main" id="{571F98F4-2FBD-47F6-B4A1-34E8C996C3C3}"/>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C5260C84-FD24-4DE9-8CC3-7D8677CA901A}"/>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gives life, dignity, and a generous command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warns that rebellion brings death</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serpent directly contradicts God’s word</a:t>
            </a:r>
          </a:p>
        </p:txBody>
      </p:sp>
      <p:sp>
        <p:nvSpPr>
          <p:cNvPr id="6" name="Rectangle 5">
            <a:extLst>
              <a:ext uri="{FF2B5EF4-FFF2-40B4-BE49-F238E27FC236}">
                <a16:creationId xmlns:a16="http://schemas.microsoft.com/office/drawing/2014/main" id="{3C988E82-65AE-4F1E-ACDD-095B79FC7720}"/>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06</a:t>
            </a:r>
          </a:p>
        </p:txBody>
      </p:sp>
    </p:spTree>
    <p:extLst>
      <p:ext uri="{BB962C8B-B14F-4D97-AF65-F5344CB8AC3E}">
        <p14:creationId xmlns:p14="http://schemas.microsoft.com/office/powerpoint/2010/main" val="1815287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0B2EFDD0-824B-4F0E-9B26-1AC03071D4FB}"/>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15744318-3967-434D-AAEB-315808BE9A1B}"/>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Sin brings death</a:t>
            </a:r>
          </a:p>
        </p:txBody>
      </p:sp>
      <p:sp>
        <p:nvSpPr>
          <p:cNvPr id="4" name="Rectangle 3">
            <a:extLst>
              <a:ext uri="{FF2B5EF4-FFF2-40B4-BE49-F238E27FC236}">
                <a16:creationId xmlns:a16="http://schemas.microsoft.com/office/drawing/2014/main" id="{87FD62E0-E441-4164-B9CB-7A8DB955B1D3}"/>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4555D411-9774-4CD2-9AAD-83B33596D1CD}"/>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Guilt and fear reveal a broken relationship with God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Sin and death entered the world through Adam</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Grace, righteousness, and reconciliation come through Jesus Christ</a:t>
            </a:r>
          </a:p>
        </p:txBody>
      </p:sp>
      <p:sp>
        <p:nvSpPr>
          <p:cNvPr id="6" name="Rectangle 5">
            <a:extLst>
              <a:ext uri="{FF2B5EF4-FFF2-40B4-BE49-F238E27FC236}">
                <a16:creationId xmlns:a16="http://schemas.microsoft.com/office/drawing/2014/main" id="{B4D22EE0-6DCE-4D0B-85D6-AA4B710CCD6B}"/>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07</a:t>
            </a:r>
          </a:p>
        </p:txBody>
      </p:sp>
    </p:spTree>
    <p:extLst>
      <p:ext uri="{BB962C8B-B14F-4D97-AF65-F5344CB8AC3E}">
        <p14:creationId xmlns:p14="http://schemas.microsoft.com/office/powerpoint/2010/main" val="1704996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30115" r="30115"/>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8CBF9453-DC6D-40C2-A453-F99C585CCEE2}"/>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CBAB1558-A19A-46B0-AB49-A5009B937349}"/>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 promise for all nations</a:t>
            </a:r>
          </a:p>
        </p:txBody>
      </p:sp>
      <p:sp>
        <p:nvSpPr>
          <p:cNvPr id="4" name="Rectangle 3">
            <a:extLst>
              <a:ext uri="{FF2B5EF4-FFF2-40B4-BE49-F238E27FC236}">
                <a16:creationId xmlns:a16="http://schemas.microsoft.com/office/drawing/2014/main" id="{C5933CC1-3905-4508-AAFE-6518E8D07075}"/>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73B3C930-6804-4EAB-9ADC-8A617D250B8E}"/>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serpent’s head would be bruised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All families of the earth would be blessed through Abraham</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promise reaches beyond one people to every nation</a:t>
            </a:r>
          </a:p>
        </p:txBody>
      </p:sp>
      <p:sp>
        <p:nvSpPr>
          <p:cNvPr id="6" name="Rectangle 5">
            <a:extLst>
              <a:ext uri="{FF2B5EF4-FFF2-40B4-BE49-F238E27FC236}">
                <a16:creationId xmlns:a16="http://schemas.microsoft.com/office/drawing/2014/main" id="{C649331F-622C-4F91-8C8C-B057B5EA6A7D}"/>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08</a:t>
            </a:r>
          </a:p>
        </p:txBody>
      </p:sp>
    </p:spTree>
    <p:extLst>
      <p:ext uri="{BB962C8B-B14F-4D97-AF65-F5344CB8AC3E}">
        <p14:creationId xmlns:p14="http://schemas.microsoft.com/office/powerpoint/2010/main" val="1661945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7F08D91E-7D26-44D7-BD32-E70728AE14B4}"/>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213B2943-A69A-4E91-B327-F975B2389238}"/>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Christ is the promised offspring</a:t>
            </a:r>
          </a:p>
        </p:txBody>
      </p:sp>
      <p:sp>
        <p:nvSpPr>
          <p:cNvPr id="4" name="Rectangle 3">
            <a:extLst>
              <a:ext uri="{FF2B5EF4-FFF2-40B4-BE49-F238E27FC236}">
                <a16:creationId xmlns:a16="http://schemas.microsoft.com/office/drawing/2014/main" id="{2B239A68-6082-481D-BA36-F8E10A0D3767}"/>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506F919A-5950-47E6-A886-DCB967AB417C}"/>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Paul calls Abraham’s promise the gospel announced beforehand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justifies people from the nations by faith</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promised offspring is Jesus Christ</a:t>
            </a:r>
          </a:p>
        </p:txBody>
      </p:sp>
      <p:sp>
        <p:nvSpPr>
          <p:cNvPr id="6" name="Rectangle 5">
            <a:extLst>
              <a:ext uri="{FF2B5EF4-FFF2-40B4-BE49-F238E27FC236}">
                <a16:creationId xmlns:a16="http://schemas.microsoft.com/office/drawing/2014/main" id="{1B0256BC-1A72-42A5-B4C5-BA637DBF354A}"/>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09</a:t>
            </a:r>
          </a:p>
        </p:txBody>
      </p:sp>
    </p:spTree>
    <p:extLst>
      <p:ext uri="{BB962C8B-B14F-4D97-AF65-F5344CB8AC3E}">
        <p14:creationId xmlns:p14="http://schemas.microsoft.com/office/powerpoint/2010/main" val="272150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85EC0153-A033-4D06-8DF6-50470C43366E}"/>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D36560FF-779C-4752-A5C4-0E6143BB57EE}"/>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Moses and David bear witness</a:t>
            </a:r>
          </a:p>
        </p:txBody>
      </p:sp>
      <p:sp>
        <p:nvSpPr>
          <p:cNvPr id="4" name="Rectangle 3">
            <a:extLst>
              <a:ext uri="{FF2B5EF4-FFF2-40B4-BE49-F238E27FC236}">
                <a16:creationId xmlns:a16="http://schemas.microsoft.com/office/drawing/2014/main" id="{400A102E-0CAC-45C9-817F-19DF1F27F8F2}"/>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809CF9E5-51D6-425E-B87A-CBEA87808284}"/>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Moses promises a prophet whom the people must hear</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Peter identifies Jesus as the One God sent</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David speaks ahead of Christ’s resurrection</a:t>
            </a:r>
          </a:p>
        </p:txBody>
      </p:sp>
      <p:sp>
        <p:nvSpPr>
          <p:cNvPr id="6" name="Rectangle 5">
            <a:extLst>
              <a:ext uri="{FF2B5EF4-FFF2-40B4-BE49-F238E27FC236}">
                <a16:creationId xmlns:a16="http://schemas.microsoft.com/office/drawing/2014/main" id="{066D057A-1D34-4E11-B1F6-16CEA8374F19}"/>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10</a:t>
            </a:r>
          </a:p>
        </p:txBody>
      </p:sp>
    </p:spTree>
    <p:extLst>
      <p:ext uri="{BB962C8B-B14F-4D97-AF65-F5344CB8AC3E}">
        <p14:creationId xmlns:p14="http://schemas.microsoft.com/office/powerpoint/2010/main" val="955589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7B16A275-464A-4056-ADB0-5FD962F464E4}"/>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D4A1F59E-8B3D-45F0-A9E4-52C482B7BC45}"/>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servant bears our sin</a:t>
            </a:r>
          </a:p>
        </p:txBody>
      </p:sp>
      <p:sp>
        <p:nvSpPr>
          <p:cNvPr id="4" name="Rectangle 3">
            <a:extLst>
              <a:ext uri="{FF2B5EF4-FFF2-40B4-BE49-F238E27FC236}">
                <a16:creationId xmlns:a16="http://schemas.microsoft.com/office/drawing/2014/main" id="{B253A564-F7B8-49AD-AA97-B015AABBBFC0}"/>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A901B4A4-DD1D-4A3C-82ED-99BC2075551E}"/>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He was pierced for our transgressions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punishment that brought our peace was on Him</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innocent servant bears the iniquity of many</a:t>
            </a:r>
          </a:p>
        </p:txBody>
      </p:sp>
      <p:sp>
        <p:nvSpPr>
          <p:cNvPr id="6" name="Rectangle 5">
            <a:extLst>
              <a:ext uri="{FF2B5EF4-FFF2-40B4-BE49-F238E27FC236}">
                <a16:creationId xmlns:a16="http://schemas.microsoft.com/office/drawing/2014/main" id="{B7E058D5-6F3D-4B06-ABCB-6A17A3A910B9}"/>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11</a:t>
            </a:r>
          </a:p>
        </p:txBody>
      </p:sp>
    </p:spTree>
    <p:extLst>
      <p:ext uri="{BB962C8B-B14F-4D97-AF65-F5344CB8AC3E}">
        <p14:creationId xmlns:p14="http://schemas.microsoft.com/office/powerpoint/2010/main" val="919101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91BD19DA-1F9F-4A5E-BC3D-80212BEC2591}"/>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83CF71DA-8A7C-4222-95F4-9A4C6F2567C2}"/>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Isaiah directs us to Jesus</a:t>
            </a:r>
          </a:p>
        </p:txBody>
      </p:sp>
      <p:sp>
        <p:nvSpPr>
          <p:cNvPr id="4" name="Rectangle 3">
            <a:extLst>
              <a:ext uri="{FF2B5EF4-FFF2-40B4-BE49-F238E27FC236}">
                <a16:creationId xmlns:a16="http://schemas.microsoft.com/office/drawing/2014/main" id="{4D14FE92-0173-4DB6-AEB8-F8A701E9CC34}"/>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C6888E92-2DF5-4C40-B0C4-AA0EB319F3B2}"/>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Philip begins with Isaiah 53 and preaches Jesus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Paul connects Isaiah’s question to the response to the gospel</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message brings us again to the question of belief</a:t>
            </a:r>
          </a:p>
        </p:txBody>
      </p:sp>
      <p:sp>
        <p:nvSpPr>
          <p:cNvPr id="6" name="Rectangle 5">
            <a:extLst>
              <a:ext uri="{FF2B5EF4-FFF2-40B4-BE49-F238E27FC236}">
                <a16:creationId xmlns:a16="http://schemas.microsoft.com/office/drawing/2014/main" id="{A2DFD6B8-8482-42CC-A817-7B61A317417A}"/>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12</a:t>
            </a:r>
          </a:p>
        </p:txBody>
      </p:sp>
    </p:spTree>
    <p:extLst>
      <p:ext uri="{BB962C8B-B14F-4D97-AF65-F5344CB8AC3E}">
        <p14:creationId xmlns:p14="http://schemas.microsoft.com/office/powerpoint/2010/main" val="1052461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7702F1D4-379D-4FA3-A110-34E53E7A4368}"/>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3A7A59FE-BF2E-42DE-9053-8F0134C47050}"/>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prophets searched diligently</a:t>
            </a:r>
          </a:p>
        </p:txBody>
      </p:sp>
      <p:sp>
        <p:nvSpPr>
          <p:cNvPr id="4" name="Rectangle 3">
            <a:extLst>
              <a:ext uri="{FF2B5EF4-FFF2-40B4-BE49-F238E27FC236}">
                <a16:creationId xmlns:a16="http://schemas.microsoft.com/office/drawing/2014/main" id="{61728636-0F5A-46EC-B5C9-FE0092B55C53}"/>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7661888C-ACFF-4461-89BF-F32729A5AB68}"/>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Spirit testified beforehand about Christ’s sufferings and glory</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prophets served people who would come later</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What they anticipated, the apostles announced</a:t>
            </a:r>
          </a:p>
        </p:txBody>
      </p:sp>
      <p:sp>
        <p:nvSpPr>
          <p:cNvPr id="6" name="Rectangle 5">
            <a:extLst>
              <a:ext uri="{FF2B5EF4-FFF2-40B4-BE49-F238E27FC236}">
                <a16:creationId xmlns:a16="http://schemas.microsoft.com/office/drawing/2014/main" id="{4F539185-3C82-4240-9A4E-1EC6E6F1A366}"/>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13</a:t>
            </a:r>
          </a:p>
        </p:txBody>
      </p:sp>
    </p:spTree>
    <p:extLst>
      <p:ext uri="{BB962C8B-B14F-4D97-AF65-F5344CB8AC3E}">
        <p14:creationId xmlns:p14="http://schemas.microsoft.com/office/powerpoint/2010/main" val="1950149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92B56DA1-A18A-4643-AC43-DDABECAEA9F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1B4E71B2-2BA4-44C5-A694-6ACFA3BE1447}"/>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According to the Scriptures</a:t>
            </a:r>
          </a:p>
        </p:txBody>
      </p:sp>
      <p:sp>
        <p:nvSpPr>
          <p:cNvPr id="4" name="Rectangle 3">
            <a:extLst>
              <a:ext uri="{FF2B5EF4-FFF2-40B4-BE49-F238E27FC236}">
                <a16:creationId xmlns:a16="http://schemas.microsoft.com/office/drawing/2014/main" id="{FD622761-63E7-4188-8796-A3452F520CA7}"/>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54E0C261-10DA-4DCF-8CB4-F4C6B50864D4}"/>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Christ died for our sins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He was buried and raised on the third day</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apostles proclaimed the same gospel and called people to believe</a:t>
            </a:r>
          </a:p>
        </p:txBody>
      </p:sp>
      <p:sp>
        <p:nvSpPr>
          <p:cNvPr id="6" name="Rectangle 5">
            <a:extLst>
              <a:ext uri="{FF2B5EF4-FFF2-40B4-BE49-F238E27FC236}">
                <a16:creationId xmlns:a16="http://schemas.microsoft.com/office/drawing/2014/main" id="{9F29D064-C131-43FA-A533-0CA0D31F592B}"/>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14</a:t>
            </a:r>
          </a:p>
        </p:txBody>
      </p:sp>
    </p:spTree>
    <p:extLst>
      <p:ext uri="{BB962C8B-B14F-4D97-AF65-F5344CB8AC3E}">
        <p14:creationId xmlns:p14="http://schemas.microsoft.com/office/powerpoint/2010/main" val="1214324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6C85DD03-BFD3-4912-8DBA-C8F3D507BA0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5C6413E2-DEC9-4BD6-BB5D-B68C86CACCE1}"/>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 message entrusted to us</a:t>
            </a:r>
          </a:p>
        </p:txBody>
      </p:sp>
      <p:sp>
        <p:nvSpPr>
          <p:cNvPr id="4" name="Rectangle 3">
            <a:extLst>
              <a:ext uri="{FF2B5EF4-FFF2-40B4-BE49-F238E27FC236}">
                <a16:creationId xmlns:a16="http://schemas.microsoft.com/office/drawing/2014/main" id="{43CDD730-F724-485B-BBFA-191EC3A66143}"/>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F69322FE-8D4E-449B-80BB-C939223E0C53}"/>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Hold the pattern of sound words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Guard the message in faith and love</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Entrust the same teaching to faithful people</a:t>
            </a:r>
          </a:p>
        </p:txBody>
      </p:sp>
      <p:sp>
        <p:nvSpPr>
          <p:cNvPr id="6" name="Rectangle 5">
            <a:extLst>
              <a:ext uri="{FF2B5EF4-FFF2-40B4-BE49-F238E27FC236}">
                <a16:creationId xmlns:a16="http://schemas.microsoft.com/office/drawing/2014/main" id="{3B9A154F-1DC4-4824-B656-6A3E32782758}"/>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15</a:t>
            </a:r>
          </a:p>
        </p:txBody>
      </p:sp>
    </p:spTree>
    <p:extLst>
      <p:ext uri="{BB962C8B-B14F-4D97-AF65-F5344CB8AC3E}">
        <p14:creationId xmlns:p14="http://schemas.microsoft.com/office/powerpoint/2010/main" val="1079344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7E26B35B-77D1-4BBA-BBAD-3A5959C6255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33B8F5BA-30D3-4AB0-BCCD-05D99ABA9164}"/>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same message for the next generation</a:t>
            </a:r>
          </a:p>
        </p:txBody>
      </p:sp>
      <p:sp>
        <p:nvSpPr>
          <p:cNvPr id="4" name="Rectangle 3">
            <a:extLst>
              <a:ext uri="{FF2B5EF4-FFF2-40B4-BE49-F238E27FC236}">
                <a16:creationId xmlns:a16="http://schemas.microsoft.com/office/drawing/2014/main" id="{AB686CCA-A9E3-4F43-8F9E-0EF82596E3D0}"/>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892EA282-D082-4372-B551-9B71E3C27CEB}"/>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Remember Jesus Christ, risen from the dead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faith was delivered once for all to the saints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promise to the nations now reaches our generation</a:t>
            </a:r>
          </a:p>
        </p:txBody>
      </p:sp>
      <p:sp>
        <p:nvSpPr>
          <p:cNvPr id="6" name="Rectangle 5">
            <a:extLst>
              <a:ext uri="{FF2B5EF4-FFF2-40B4-BE49-F238E27FC236}">
                <a16:creationId xmlns:a16="http://schemas.microsoft.com/office/drawing/2014/main" id="{506F8883-46DD-48F0-966D-8A52C94855AD}"/>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16</a:t>
            </a:r>
          </a:p>
        </p:txBody>
      </p:sp>
    </p:spTree>
    <p:extLst>
      <p:ext uri="{BB962C8B-B14F-4D97-AF65-F5344CB8AC3E}">
        <p14:creationId xmlns:p14="http://schemas.microsoft.com/office/powerpoint/2010/main" val="2107961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DC3F3F4F-5F59-44AE-93BB-96CF840598CB}"/>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276AB7AA-EFD6-4528-9952-2D1878677D3B}"/>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Every belief must answer to God’s Word</a:t>
            </a:r>
          </a:p>
        </p:txBody>
      </p:sp>
      <p:sp>
        <p:nvSpPr>
          <p:cNvPr id="4" name="Rectangle 3">
            <a:extLst>
              <a:ext uri="{FF2B5EF4-FFF2-40B4-BE49-F238E27FC236}">
                <a16:creationId xmlns:a16="http://schemas.microsoft.com/office/drawing/2014/main" id="{1E913078-C683-4599-8D27-F42C9A0B7B40}"/>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80AD6A97-CAAE-4135-9623-CFAA8DDEDD24}"/>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Length of belief does not establish truth</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Respected teachers can still need correction</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Our feelings must also be examined</a:t>
            </a:r>
          </a:p>
        </p:txBody>
      </p:sp>
      <p:sp>
        <p:nvSpPr>
          <p:cNvPr id="6" name="Rectangle 5">
            <a:extLst>
              <a:ext uri="{FF2B5EF4-FFF2-40B4-BE49-F238E27FC236}">
                <a16:creationId xmlns:a16="http://schemas.microsoft.com/office/drawing/2014/main" id="{3A85571A-6505-450B-9785-0AEFCCDCF138}"/>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17</a:t>
            </a:r>
          </a:p>
        </p:txBody>
      </p:sp>
    </p:spTree>
    <p:extLst>
      <p:ext uri="{BB962C8B-B14F-4D97-AF65-F5344CB8AC3E}">
        <p14:creationId xmlns:p14="http://schemas.microsoft.com/office/powerpoint/2010/main" val="58319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236A6660-23D1-44D1-8709-D2795509A958}"/>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4BAABDF6-FBC1-4082-BB03-1A8042A164E4}"/>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Come to Christ for life</a:t>
            </a:r>
          </a:p>
        </p:txBody>
      </p:sp>
      <p:sp>
        <p:nvSpPr>
          <p:cNvPr id="4" name="Rectangle 3">
            <a:extLst>
              <a:ext uri="{FF2B5EF4-FFF2-40B4-BE49-F238E27FC236}">
                <a16:creationId xmlns:a16="http://schemas.microsoft.com/office/drawing/2014/main" id="{74FA4C12-063C-478C-BAD2-6D3DC5338CEE}"/>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3DFB4BAB-A2E9-406B-BAFB-261B851810F7}"/>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Read the passage in its context</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Welcome correction when Scripture requires change</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Trust the One who died for our sins and rose again</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Take the water of life freely</a:t>
            </a:r>
          </a:p>
        </p:txBody>
      </p:sp>
      <p:sp>
        <p:nvSpPr>
          <p:cNvPr id="6" name="Rectangle 5">
            <a:extLst>
              <a:ext uri="{FF2B5EF4-FFF2-40B4-BE49-F238E27FC236}">
                <a16:creationId xmlns:a16="http://schemas.microsoft.com/office/drawing/2014/main" id="{90838AC6-618D-4D37-A8F0-D2F40DD83B72}"/>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214259430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4957</Words>
  <Application>Microsoft Macintosh PowerPoint</Application>
  <DocSecurity>0</DocSecurity>
  <PresentationFormat>Widescreen</PresentationFormat>
  <Paragraphs>477</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wry</cp:lastModifiedBy>
  <cp:revision>1</cp:revision>
  <dcterms:created xsi:type="dcterms:W3CDTF">2026-10-05T22:22:50Z</dcterms:created>
  <dcterms:modified xsi:type="dcterms:W3CDTF">2026-10-06T13:31:43Z</dcterms:modified>
</cp:coreProperties>
</file>